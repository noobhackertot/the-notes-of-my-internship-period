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14"/>
  </p:handoutMasterIdLst>
  <p:sldIdLst>
    <p:sldId id="279" r:id="rId4"/>
    <p:sldId id="291" r:id="rId6"/>
    <p:sldId id="282" r:id="rId7"/>
    <p:sldId id="287" r:id="rId8"/>
    <p:sldId id="286" r:id="rId9"/>
    <p:sldId id="355" r:id="rId10"/>
    <p:sldId id="354" r:id="rId11"/>
    <p:sldId id="345" r:id="rId12"/>
    <p:sldId id="319" r:id="rId13"/>
  </p:sldIdLst>
  <p:sldSz cx="12192000" cy="6858000"/>
  <p:notesSz cx="7103745" cy="10234295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8" userDrawn="1">
          <p15:clr>
            <a:srgbClr val="A4A3A4"/>
          </p15:clr>
        </p15:guide>
        <p15:guide id="2" pos="37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5"/>
    <a:srgbClr val="00773D"/>
    <a:srgbClr val="007236"/>
    <a:srgbClr val="19CA7B"/>
    <a:srgbClr val="00D635"/>
    <a:srgbClr val="00CCBE"/>
    <a:srgbClr val="188C38"/>
    <a:srgbClr val="B2B2B2"/>
    <a:srgbClr val="20202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228" y="64"/>
      </p:cViewPr>
      <p:guideLst>
        <p:guide orient="horz" pos="2118"/>
        <p:guide pos="377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8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248" y="1279525"/>
            <a:ext cx="6141156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71" y="1322962"/>
            <a:ext cx="9144424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71" y="3602038"/>
            <a:ext cx="9144424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31" y="258445"/>
            <a:ext cx="10516087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31" y="1825625"/>
            <a:ext cx="10516087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89" y="3751117"/>
            <a:ext cx="7321889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89" y="4610028"/>
            <a:ext cx="7321889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31" y="258445"/>
            <a:ext cx="10516087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31" y="1825625"/>
            <a:ext cx="518184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977" y="1825625"/>
            <a:ext cx="518184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27" y="365125"/>
            <a:ext cx="1051608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27" y="1744961"/>
            <a:ext cx="515802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27" y="2615609"/>
            <a:ext cx="515802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487" y="1744961"/>
            <a:ext cx="518342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487" y="2615609"/>
            <a:ext cx="518342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40" y="2766219"/>
            <a:ext cx="10516087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77" y="127000"/>
            <a:ext cx="4165393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240" y="766354"/>
            <a:ext cx="581764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57" y="2057400"/>
            <a:ext cx="4165393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84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939" y="365125"/>
            <a:ext cx="1529388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40" y="365125"/>
            <a:ext cx="8880369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40" y="551543"/>
            <a:ext cx="10516087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3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3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3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3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1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3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1" y="1296000"/>
            <a:ext cx="5283241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1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3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1" y="1296000"/>
            <a:ext cx="5283241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1" y="1296000"/>
            <a:ext cx="5283241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1" y="1789043"/>
            <a:ext cx="5283241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1" y="1296000"/>
            <a:ext cx="5283241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1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6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1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3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9" Type="http://schemas.openxmlformats.org/officeDocument/2006/relationships/theme" Target="../theme/theme2.xml"/><Relationship Id="rId18" Type="http://schemas.openxmlformats.org/officeDocument/2006/relationships/tags" Target="../tags/tag64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40" y="365125"/>
            <a:ext cx="105160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40" y="1825625"/>
            <a:ext cx="105160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40" y="6356350"/>
            <a:ext cx="274332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788" y="6356350"/>
            <a:ext cx="4114991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000" y="6356350"/>
            <a:ext cx="274332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69883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69883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743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1.xml"/><Relationship Id="rId2" Type="http://schemas.openxmlformats.org/officeDocument/2006/relationships/tags" Target="../tags/tag65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939925" y="2355225"/>
            <a:ext cx="8312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0773D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试用期员工转正述职报告</a:t>
            </a:r>
            <a:endParaRPr lang="zh-CN" altLang="en-US" sz="3600" b="1" dirty="0">
              <a:solidFill>
                <a:srgbClr val="00773D"/>
              </a:solidFill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73322" y="4338531"/>
            <a:ext cx="29711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NAME</a:t>
            </a:r>
            <a:r>
              <a:rPr lang="zh-CN" altLang="en-US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b="1" dirty="0">
              <a:solidFill>
                <a:srgbClr val="00773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DATE</a:t>
            </a:r>
            <a:r>
              <a:rPr lang="zh-CN" altLang="en-US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  ：</a:t>
            </a:r>
            <a:endParaRPr lang="en-US" altLang="zh-CN" b="1" dirty="0">
              <a:solidFill>
                <a:srgbClr val="0077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019744" y="705062"/>
            <a:ext cx="2040751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da-DK" altLang="zh-CN" sz="32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ontents</a:t>
            </a:r>
            <a:endParaRPr lang="zh-CN" altLang="en-US" sz="3200" b="1" dirty="0">
              <a:solidFill>
                <a:srgbClr val="00773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194" name="文本占位符 176"/>
          <p:cNvSpPr>
            <a:spLocks noGrp="1"/>
          </p:cNvSpPr>
          <p:nvPr>
            <p:ph type="body" sz="quarter" idx="11"/>
          </p:nvPr>
        </p:nvSpPr>
        <p:spPr>
          <a:xfrm>
            <a:off x="1085850" y="1583267"/>
            <a:ext cx="9908540" cy="2639272"/>
          </a:xfrm>
          <a:noFill/>
          <a:ln w="9525">
            <a:miter/>
          </a:ln>
        </p:spPr>
        <p:txBody>
          <a:bodyPr>
            <a:no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8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、自我介绍</a:t>
            </a:r>
            <a:endParaRPr lang="en-US" altLang="zh-CN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algn="l">
              <a:lnSpc>
                <a:spcPts val="3000"/>
              </a:lnSpc>
              <a:buNone/>
            </a:pP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8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、岗位职责</a:t>
            </a:r>
            <a:endParaRPr lang="en-US" altLang="zh-CN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algn="l">
              <a:lnSpc>
                <a:spcPts val="3000"/>
              </a:lnSpc>
              <a:buNone/>
            </a:pP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8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工作绩效</a:t>
            </a: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&amp; 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案例分享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algn="l">
              <a:lnSpc>
                <a:spcPts val="3000"/>
              </a:lnSpc>
              <a:buNone/>
            </a:pP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8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8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Q&amp;A</a:t>
            </a:r>
            <a:endParaRPr lang="en-US" altLang="zh-CN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2374" y="162550"/>
            <a:ext cx="3925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、自我介绍</a:t>
            </a:r>
            <a:endParaRPr lang="en-US" altLang="zh-CN" sz="2400" b="1" dirty="0">
              <a:solidFill>
                <a:srgbClr val="00773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76885" y="793115"/>
            <a:ext cx="981329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基本信息：</a:t>
            </a:r>
            <a:endParaRPr lang="zh-CN" altLang="en-US" sz="1600" kern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/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endParaRPr lang="zh-CN" altLang="zh-CN" sz="1600" kern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501650" y="5756794"/>
            <a:ext cx="1089723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其他 ：</a:t>
            </a:r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大学英语四级</a:t>
            </a:r>
            <a:endParaRPr lang="zh-CN" altLang="en-US" sz="1600" kern="1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 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争取</a:t>
            </a:r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年内通过雅思</a:t>
            </a:r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分认证</a:t>
            </a:r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 sz="1600" kern="1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  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已报名</a:t>
            </a:r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月份的</a:t>
            </a:r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PMP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认证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考试</a:t>
            </a:r>
            <a:endParaRPr lang="zh-CN" altLang="en-US" sz="1600" kern="1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76885" y="1477010"/>
            <a:ext cx="981329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Tx/>
              <a:buSzTx/>
              <a:buFont typeface="Wingdings" panose="05000000000000000000" pitchFamily="2" charset="2"/>
              <a:buChar char="Ø"/>
            </a:pPr>
            <a:r>
              <a:rPr lang="da-DK" altLang="zh-CN" sz="1600" kern="100" dirty="0">
                <a:latin typeface="微软雅黑" panose="020B0503020204020204" charset="-122"/>
                <a:ea typeface="微软雅黑" panose="020B0503020204020204" charset="-122"/>
              </a:rPr>
              <a:t>Education and work experience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</a:rPr>
              <a:t>：（</a:t>
            </a:r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</a:rPr>
              <a:t>Experience in the Last Five Years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zh-CN" sz="1600" kern="1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4"/>
            </p:custDataLst>
          </p:nvPr>
        </p:nvGraphicFramePr>
        <p:xfrm>
          <a:off x="598805" y="1914525"/>
          <a:ext cx="9803765" cy="1541780"/>
        </p:xfrm>
        <a:graphic>
          <a:graphicData uri="http://schemas.openxmlformats.org/drawingml/2006/table">
            <a:tbl>
              <a:tblPr/>
              <a:tblGrid>
                <a:gridCol w="2362835"/>
                <a:gridCol w="3695469"/>
                <a:gridCol w="3745461"/>
              </a:tblGrid>
              <a:tr h="302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 b="0" kern="100" dirty="0"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Dat</a:t>
                      </a:r>
                      <a:r>
                        <a:rPr lang="en-US" altLang="zh-CN" sz="1600" b="0" kern="100" dirty="0"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e </a:t>
                      </a:r>
                      <a:endParaRPr lang="en-US" altLang="zh-CN" sz="1600" b="0" kern="100" dirty="0"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da-DK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Company 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 School</a:t>
                      </a:r>
                      <a:endParaRPr lang="en-US" altLang="zh-CN" sz="1600" b="0" kern="100" dirty="0"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 b="0" kern="100" dirty="0"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Position</a:t>
                      </a:r>
                      <a:endParaRPr lang="en-US" altLang="zh-CN" sz="1600" b="0" kern="100" dirty="0"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D47"/>
                    </a:solidFill>
                  </a:tcPr>
                </a:tc>
              </a:tr>
              <a:tr h="30226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zh-CN" sz="1600" b="0" kern="100" dirty="0"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zh-CN" altLang="en-US" sz="1600" b="0" kern="100" dirty="0"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zh-CN" altLang="en-US" sz="1600" b="0" kern="100" dirty="0"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226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zh-CN" sz="1600" b="0" kern="100" dirty="0"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zh-CN" altLang="en-US" sz="1600" b="0" kern="100" dirty="0"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zh-CN" altLang="en-US" sz="1600" b="0" kern="100" dirty="0"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226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zh-CN" sz="1600" b="0" kern="100" dirty="0"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zh-CN" altLang="en-US" sz="1600" b="0" kern="100" dirty="0"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zh-CN" altLang="en-US" sz="1600" b="0" kern="100" dirty="0"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2260">
                <a:tc>
                  <a:txBody>
                    <a:bodyPr/>
                    <a:p>
                      <a:pPr indent="0" algn="ctr">
                        <a:buNone/>
                      </a:pPr>
                      <a:endParaRPr lang="zh-CN" altLang="en-US" sz="1600" b="0" kern="100" dirty="0"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zh-CN" altLang="en-US" sz="1600" b="0" kern="100" dirty="0"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zh-CN" altLang="en-US" sz="1600" b="0" kern="100" dirty="0"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76885" y="3994150"/>
            <a:ext cx="11715115" cy="15265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</a:rPr>
              <a:t>技能认证 ：</a:t>
            </a:r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</a:rPr>
              <a:t>2024.07 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</a:rPr>
              <a:t>获</a:t>
            </a:r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</a:rPr>
              <a:t> Certified Kubernetes Administrator 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</a:rPr>
              <a:t>认证</a:t>
            </a:r>
            <a:endParaRPr lang="en-US" altLang="zh-CN" sz="1600" kern="1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914400" lvl="2" indent="457200" algn="l"/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2024.07 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获</a:t>
            </a:r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Alibaba Cloud Certified Professional 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认证</a:t>
            </a:r>
            <a:endParaRPr lang="zh-CN" altLang="en-US" sz="1600" kern="1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914400" lvl="2" indent="457200" algn="l"/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2023.06 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获</a:t>
            </a:r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HUAWEI Certified Internet Professional 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认证</a:t>
            </a:r>
            <a:endParaRPr lang="zh-CN" altLang="en-US" sz="1600" kern="1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914400" lvl="2" indent="457200" algn="l"/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2023.05 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获</a:t>
            </a:r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Oracle Certified Professional 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认证</a:t>
            </a:r>
            <a:endParaRPr lang="zh-CN" altLang="en-US" sz="1600" kern="1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914400" lvl="2" indent="457200" algn="l"/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2018.12 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获</a:t>
            </a:r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RED HAT Certifed Engineer 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认证</a:t>
            </a:r>
            <a:endParaRPr lang="zh-CN" altLang="en-US" sz="1600" kern="1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914400" lvl="2" indent="457200" algn="l"/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2017.07 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获</a:t>
            </a:r>
            <a:r>
              <a:rPr lang="en-US" altLang="zh-CN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Cisco Certified Network Associate </a:t>
            </a:r>
            <a:r>
              <a:rPr lang="zh-CN" altLang="en-US" sz="1600" kern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认证</a:t>
            </a:r>
            <a:endParaRPr lang="en-US" altLang="zh-CN" sz="1600" kern="1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endParaRPr lang="en-US" altLang="en-US" sz="975" b="0" u="none" kern="100" dirty="0">
              <a:solidFill>
                <a:srgbClr val="4D5156"/>
              </a:solidFill>
              <a:latin typeface="Helvetica Neue" panose="0200050300000002000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97959" y="188358"/>
            <a:ext cx="751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工作职责</a:t>
            </a:r>
            <a:endParaRPr lang="en-US" altLang="zh-CN" sz="2400" b="1" dirty="0">
              <a:solidFill>
                <a:srgbClr val="00773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784225" y="859155"/>
            <a:ext cx="10575925" cy="5481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客户技术支持与咨询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职责概述：负责提供客户关于家用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NAS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设备的技术咨询服务，解决包括数据恢复、远程访问、加密安全和网络设置等高级问题。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主要任务：通过高效的远程故障诊断，针对不同客户需求提供定制化的技术解决方案，确保设备的持续运行和稳定性。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复杂问题的分析与解决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职责概述：专注于处理技术领域中复杂或反复发生的问题，通过专业分析和深度研究提供解决方案。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主要任务：主导复杂问题的解决过程，协调与技术团队的合作，确保问题得到快速且高效的处理，避免问题重复发生。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3. </a:t>
            </a: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客户服务流程的优化与改进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职责概述：负责分析并优化客户服务流程，提升服务效率与客户体验。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主要任务：识别并解决服务流程中的瓶颈，通过收集客户反馈，推动产品和服务流程的优化改进，以提高服务的响应速度和整体质量。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4. </a:t>
            </a: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团队技术培训与知识更新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职责概述：通过定期培训提升团队成员的技术能力，确保团队对家用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NAS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产品的技术知识保持最新。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主要任务：提供持续的技术培训和专业指导，编写和维护技术文档及知识库，确保所有成员都能掌握最新的技术动态和操作规范。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5. </a:t>
            </a: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产品测试与功能优化建议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职责概述：参与新产品和功能的测试工作，评估其可用性并向产品团队提出改进意见。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主要任务：测试新功能并识别潜在问题，依据客户反馈和市场需求向产品开发团队提供功能优化建议，协助推动产品的持续改进与迭代更新。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6. </a:t>
            </a: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故障记录与数据驱动的优化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职责概述：通过对客户故障记录的分析，为产品优化提供数据支持。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主要任务：系统记录并分析客户反馈的故障信息，识别潜在的设计缺陷，编制详细的技术报告，并为公司决策提供数据支持，促进产品设计和技术改进。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7. </a:t>
            </a: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紧急事件响应与跨部门协作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职责概述：负责处理紧急技术问题，确保及时响应并解决，以保障客户业务的连续性。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主要任务：在重大技术事件发生时，与研发、质量保证和市场等相关部门紧密合作，确保资源的快速调动与问题的高效解决，减少对客户业务的影响。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5412" y="204324"/>
            <a:ext cx="6770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工作绩效 </a:t>
            </a:r>
            <a:r>
              <a:rPr lang="en-US" altLang="zh-CN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&amp; </a:t>
            </a:r>
            <a:r>
              <a:rPr lang="zh-CN" altLang="en-US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案例分享</a:t>
            </a:r>
            <a:endParaRPr lang="zh-CN" altLang="en-US" sz="2400" b="1" dirty="0">
              <a:solidFill>
                <a:srgbClr val="00773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31370" y="828026"/>
          <a:ext cx="10706735" cy="2122170"/>
        </p:xfrm>
        <a:graphic>
          <a:graphicData uri="http://schemas.openxmlformats.org/drawingml/2006/table">
            <a:tbl>
              <a:tblPr/>
              <a:tblGrid>
                <a:gridCol w="1865630"/>
                <a:gridCol w="7281545"/>
                <a:gridCol w="1559265"/>
              </a:tblGrid>
              <a:tr h="21221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专业技术与指导能力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2700" marB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掌握</a:t>
                      </a:r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NAS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所需的技术，能够为团队提供全面的技术支持，并组织相关的技术培训，提升团队的技术能力。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高效解决用户和客服提出的工单问题，凭借扎实的技术能力，提供快速且专业的产品使用指导，改善用户体验并提高他们对产品的满意度。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深刻理解产品与用户的需求，针对功能、硬件设计、应用架构等方面提供具有建设性的优化建议。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在面对复杂项目时，提供全方位的技术支持，并针对技术难题给出分析思路，与团队协作或独立完成测试与问题解决方案。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能够识别和管理海外技术支持中潜在的各种风险，有效减少风险带来的负面影响。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en-US" altLang="zh-CN" sz="13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6.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具备创新思维，能够对现有工作流程和技术体系提出改进意见，推动流程优化和技术创新。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2700" marB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日常关键事件评价。</a:t>
                      </a:r>
                      <a:endParaRPr lang="zh-CN" altLang="en-US" sz="13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2700" marB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31190" y="3078480"/>
            <a:ext cx="611822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案例一（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专业技术）：</a:t>
            </a:r>
            <a:endParaRPr lang="zh-CN" altLang="en-US" b="1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一个德国用户表示他通过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UGREEN App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上传了一些文件到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NAS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里面，但在他的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Mac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电脑上却没看到这些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文件。</a:t>
            </a:r>
            <a:endParaRPr lang="zh-CN" altLang="en-US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虽然该德国用户提供的信息非常有限，但作为一名专业的技术人员，我可以从有限的信息中判断出，在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Mac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电脑上看不到那些文件，是因为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Mac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连接到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NAS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的账号并没有相应的读权限去读取这些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文件。</a:t>
            </a:r>
            <a:endParaRPr lang="zh-CN" altLang="en-US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并且，从这些有限的信息中，我能感觉到该德国用户缺少使用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NAS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的一些基本知识。我迅速地找到相应的视频，提供给德国的同事和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用户。</a:t>
            </a:r>
            <a:endParaRPr lang="zh-CN" altLang="en-US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在整个过程中，我能迅速地判断问题所在和提供解决方法，从而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为同事和用户提供了专业技术的洞察力（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insight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）。</a:t>
            </a:r>
            <a:endParaRPr lang="zh-CN" altLang="en-US" b="1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6" name="图片 5" descr="专业技术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1495" y="3078480"/>
            <a:ext cx="2087880" cy="3654425"/>
          </a:xfrm>
          <a:prstGeom prst="rect">
            <a:avLst/>
          </a:prstGeom>
        </p:spPr>
      </p:pic>
      <p:pic>
        <p:nvPicPr>
          <p:cNvPr id="8" name="图片 7" descr="专业技术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800" y="3078480"/>
            <a:ext cx="2270125" cy="36595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5412" y="204324"/>
            <a:ext cx="6770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工作绩效 </a:t>
            </a:r>
            <a:r>
              <a:rPr lang="en-US" altLang="zh-CN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&amp; </a:t>
            </a:r>
            <a:r>
              <a:rPr lang="zh-CN" altLang="en-US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案例分享</a:t>
            </a:r>
            <a:endParaRPr lang="zh-CN" altLang="en-US" sz="2400" b="1" dirty="0">
              <a:solidFill>
                <a:srgbClr val="00773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1780" y="720090"/>
            <a:ext cx="4728845" cy="5596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案例二（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指导能力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）：</a:t>
            </a:r>
            <a:endParaRPr lang="zh-CN" altLang="en-US" b="1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一个美国用户在询问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NAS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是否有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Linux Desktop App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的问题。美国同事有点迷惑，不知道应该如何回答。在看到我给美国用户回复后，美国同事主动与我沟通交流，如右图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所示。</a:t>
            </a:r>
            <a:endParaRPr lang="zh-CN" altLang="en-US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我向美国同事解释，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Linux Desktop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是指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ubuntu desktop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或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fedora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等一类的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Linux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桌面操作系统。该类操作系统在海外非常流行，但由于该美国同事对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Linux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操作系统了解得比较少，所以他没法理解美国用户正在询问一个怎样的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问题。</a:t>
            </a:r>
            <a:endParaRPr lang="zh-CN" altLang="en-US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zh-CN" altLang="en-US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在整个过程中，我既能识别到美国用户语言中的细节（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Linux Desktop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），也能够从技术上回答美国用户的问题，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还能够使用流利的英语向美国同事传授技术知识，从而表现出一定的指导能力。</a:t>
            </a:r>
            <a:endParaRPr lang="zh-CN" altLang="en-US" b="1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5" name="图片 4" descr="指导能力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755015"/>
            <a:ext cx="3072130" cy="5561330"/>
          </a:xfrm>
          <a:prstGeom prst="rect">
            <a:avLst/>
          </a:prstGeom>
        </p:spPr>
      </p:pic>
      <p:pic>
        <p:nvPicPr>
          <p:cNvPr id="6" name="图片 5" descr="指导能力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500" y="754380"/>
            <a:ext cx="3043555" cy="55619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5412" y="204324"/>
            <a:ext cx="6770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工作绩效 </a:t>
            </a:r>
            <a:r>
              <a:rPr lang="en-US" altLang="zh-CN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&amp; </a:t>
            </a:r>
            <a:r>
              <a:rPr lang="zh-CN" altLang="en-US" sz="24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案例分享</a:t>
            </a:r>
            <a:endParaRPr lang="zh-CN" altLang="en-US" sz="2400" b="1" dirty="0">
              <a:solidFill>
                <a:srgbClr val="00773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21030" y="833120"/>
          <a:ext cx="10726420" cy="2290445"/>
        </p:xfrm>
        <a:graphic>
          <a:graphicData uri="http://schemas.openxmlformats.org/drawingml/2006/table">
            <a:tbl>
              <a:tblPr/>
              <a:tblGrid>
                <a:gridCol w="1454150"/>
                <a:gridCol w="7381875"/>
                <a:gridCol w="1890395"/>
              </a:tblGrid>
              <a:tr h="2290445">
                <a:tc>
                  <a:txBody>
                    <a:bodyPr/>
                    <a:p>
                      <a:pPr algn="ctr" fontAlgn="ctr"/>
                      <a:r>
                        <a:rPr lang="zh-CN" altLang="en-US" sz="15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胜任力</a:t>
                      </a:r>
                      <a:endParaRPr lang="zh-CN" altLang="en-US" sz="15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2700" marB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5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zh-CN" altLang="en-US" sz="15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清晰理解并认同团队的整体目标，能够独立完成团队安排的</a:t>
                      </a:r>
                      <a:r>
                        <a:rPr lang="zh-CN" altLang="en-US" sz="15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任务，共同努力实现团队任务。</a:t>
                      </a:r>
                      <a:endParaRPr lang="en-US" altLang="zh-CN" sz="15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en-US" altLang="zh-CN" sz="15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</a:t>
                      </a:r>
                      <a:r>
                        <a:rPr lang="zh-CN" altLang="en-US" sz="15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面对问题时不推卸责任，不回避矛盾，主动承担责任，发挥自己的优势为团队贡献力量。</a:t>
                      </a:r>
                      <a:endParaRPr lang="en-US" altLang="zh-CN" sz="15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en-US" altLang="zh-CN" sz="15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</a:t>
                      </a:r>
                      <a:r>
                        <a:rPr lang="zh-CN" altLang="en-US" sz="15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通过实现组织目标来衡量自己的工作价值，确保个人成果与公司整体发展方向一致。</a:t>
                      </a:r>
                      <a:endParaRPr lang="en-US" altLang="zh-CN" sz="15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en-US" altLang="zh-CN" sz="15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</a:t>
                      </a:r>
                      <a:r>
                        <a:rPr lang="zh-CN" altLang="en-US" sz="15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注重工作中短期和长期目标的平衡，关注结果对整体战略的影响，确保每个决策都具有前瞻性。</a:t>
                      </a:r>
                      <a:endParaRPr lang="zh-CN" altLang="en-US" sz="15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en-US" altLang="zh-CN" sz="15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5.</a:t>
                      </a:r>
                      <a:r>
                        <a:rPr lang="zh-CN" altLang="en-US" sz="15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在工作中表现出色，并能够总结经验，分享具有实际价值的复盘内容，以帮助团队不断提升。</a:t>
                      </a:r>
                      <a:endParaRPr lang="zh-CN" altLang="en-US" sz="15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2700" marB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5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日常关键事件评价。</a:t>
                      </a:r>
                      <a:endParaRPr lang="zh-CN" altLang="en-US" sz="15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2700" marB="127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21030" y="3244850"/>
            <a:ext cx="1072642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案例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三（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胜任力）：</a:t>
            </a:r>
            <a:endParaRPr lang="zh-CN" altLang="en-US" b="1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元旦假期当天，独自一人值班。一个美国用户表示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NAS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的应用中心无法正常安装或卸载虚拟机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app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虚拟机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app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一直处于安装中的中间状态，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经过多次沟通后，美国用户要求立即解决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问题。</a:t>
            </a:r>
            <a:endParaRPr lang="zh-CN" altLang="en-US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此时，身边没有任何同事，开发部门也在休假。我立即远程至美国用户的机器，并手动安装了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虚拟机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App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，但仍然无法成功创建虚拟机，应用中心的虚拟机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app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安装状态仍为安装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中。</a:t>
            </a:r>
            <a:endParaRPr lang="zh-CN" altLang="en-US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该美国用户也是一位资深的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NAS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玩家，他随即打开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terminal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，表示已经帮我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SSH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到后台了。我随即通过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systemctl restart app_serv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重启了应用中心后台服务，但故障依旧。我又通过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systemctl status libvirtd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查看到后台的虚拟机服务并没有正常的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运行。</a:t>
            </a:r>
            <a:endParaRPr lang="zh-CN" altLang="en-US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此时，我意识到该故障是一个系统的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BUG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，无法立即解决。告知美国用户，需要收集相关信息并提交给开发团队进行处理。美国用户对我能够立即进行远程操作的响应表示赞赏，也理解该故障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无法立即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解决。</a:t>
            </a:r>
            <a:endParaRPr lang="zh-CN" altLang="en-US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在整个过程中，我向美国用户展示了快速的响应以及高效的专业操作，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从而维护了绿联的品牌形象。</a:t>
            </a:r>
            <a:endParaRPr lang="zh-CN" altLang="en-US" b="1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注：该美国用户私自在后台升级了系统版本，导致应用中心无法正常安装虚拟机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app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zh-CN" altLang="en-US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5105" y="1689312"/>
            <a:ext cx="727942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96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9600" b="1" dirty="0">
                <a:solidFill>
                  <a:srgbClr val="00773D"/>
                </a:solidFill>
                <a:latin typeface="微软雅黑" panose="020B0503020204020204" charset="-122"/>
                <a:ea typeface="微软雅黑" panose="020B0503020204020204" charset="-122"/>
              </a:rPr>
              <a:t>Q&amp;A</a:t>
            </a:r>
            <a:endParaRPr lang="en-US" altLang="zh-CN" sz="9600" b="1" dirty="0">
              <a:solidFill>
                <a:srgbClr val="00773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2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87308"/>
  <p:tag name="KSO_WM_TEMPLATE_THUMBS_INDEX" val="1、2、3、6、8、10、11、12、15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5.xml><?xml version="1.0" encoding="utf-8"?>
<p:tagLst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  <p:tag name="KSO_WM_SPECIAL_SOURCE" val="bdnull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TABLE_ENDDRAG_ORIGIN_RECT" val="771*214"/>
  <p:tag name="TABLE_ENDDRAG_RECT" val="47*150*771*214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77.xml><?xml version="1.0" encoding="utf-8"?>
<p:tagLst xmlns:p="http://schemas.openxmlformats.org/presentationml/2006/main">
  <p:tag name="TABLE_ENDDRAG_ORIGIN_RECT" val="830*180"/>
  <p:tag name="TABLE_ENDDRAG_RECT" val="48*65*830*180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81.xml><?xml version="1.0" encoding="utf-8"?>
<p:tagLst xmlns:p="http://schemas.openxmlformats.org/presentationml/2006/main">
  <p:tag name="KSO_DOCER_TEMPLATE_OPEN_ONCE_MARK" val="1"/>
  <p:tag name="KSO_WPP_MARK_KEY" val="7427da12-887e-4953-9c04-51d534a09e3e"/>
  <p:tag name="COMMONDATA" val="eyJoZGlkIjoiNjU3Y2FkZTQ3MWIwZDQxNjk2MGU5NzNmOWE2NWM1NzEifQ=="/>
</p:tagLst>
</file>

<file path=ppt/theme/theme1.xml><?xml version="1.0" encoding="utf-8"?>
<a:theme xmlns:a="http://schemas.openxmlformats.org/drawingml/2006/main" name="Office 主题​​">
  <a:themeElements>
    <a:clrScheme name="2019空白演示文档">
      <a:dk1>
        <a:srgbClr val="000000"/>
      </a:dk1>
      <a:lt1>
        <a:srgbClr val="FFFFFF"/>
      </a:lt1>
      <a:dk2>
        <a:srgbClr val="E6E4E4"/>
      </a:dk2>
      <a:lt2>
        <a:srgbClr val="FFFFFF"/>
      </a:lt2>
      <a:accent1>
        <a:srgbClr val="477DEA"/>
      </a:accent1>
      <a:accent2>
        <a:srgbClr val="9B9B9B"/>
      </a:accent2>
      <a:accent3>
        <a:srgbClr val="F3B745"/>
      </a:accent3>
      <a:accent4>
        <a:srgbClr val="477EE7"/>
      </a:accent4>
      <a:accent5>
        <a:srgbClr val="4BA151"/>
      </a:accent5>
      <a:accent6>
        <a:srgbClr val="E9403C"/>
      </a:accent6>
      <a:hlink>
        <a:srgbClr val="0563C1"/>
      </a:hlink>
      <a:folHlink>
        <a:srgbClr val="954D72"/>
      </a:folHlink>
    </a:clrScheme>
    <a:fontScheme name="2019空白演示文档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3060</Words>
  <Application>WPS 演示</Application>
  <PresentationFormat>宽屏</PresentationFormat>
  <Paragraphs>116</Paragraphs>
  <Slides>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隶书</vt:lpstr>
      <vt:lpstr>微软雅黑</vt:lpstr>
      <vt:lpstr>Times New Roman</vt:lpstr>
      <vt:lpstr>Helvetica Neue</vt:lpstr>
      <vt:lpstr>Arial Unicode MS</vt:lpstr>
      <vt:lpstr>等线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kingsoft</dc:creator>
  <cp:lastModifiedBy>Administrator</cp:lastModifiedBy>
  <cp:revision>21</cp:revision>
  <dcterms:created xsi:type="dcterms:W3CDTF">2024-08-27T03:31:00Z</dcterms:created>
  <dcterms:modified xsi:type="dcterms:W3CDTF">2025-12-05T09:53:10Z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KSORubyTemplateID">
    <vt:lpwstr>13</vt:lpwstr>
  </property>
  <property fmtid="{D5CDD505-2E9C-101B-9397-08002B2CF9AE}" pid="4" name="ICV">
    <vt:lpwstr>131E8CD1A512400C8A4AB05918C8C07D</vt:lpwstr>
  </property>
</Properties>
</file>